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슬라이드를 이동하려면 클릭하십시오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메모 서식을 편집하려면 클릭하십시오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나눔고딕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나눔고딕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나눔고딕"/>
              </a:defRPr>
            </a:lvl1pPr>
          </a:lstStyle>
          <a:p>
            <a:pPr indent="0" algn="r">
              <a:buNone/>
            </a:pPr>
            <a:fld id="{3D67C814-1AED-4465-A264-C751895124D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나눔고딕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73958A-A9EB-4EF0-B57F-83F7C8ABFC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9DE1DC-2569-4245-80F1-994E7E936C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4F6380-D886-49BA-BF0F-15F410A9D9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31A4E2-EA92-47EB-898E-B68B441D5DE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8C79CA-E952-4230-BA8D-C0D562AFC02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F91612-2DA6-4AD2-9EC6-3A1EC5D040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9DD01B-2A8C-466C-A93C-CF428641494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9D47F1-848A-4AEC-9623-C37A8C06B6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ko-K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제목 텍스트의 서식을 편집하려면 클릭하십시오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ko-K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개요 텍스트의 서식을 편집하려면 클릭하십시오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869680" y="-1280160"/>
            <a:ext cx="5120280" cy="5120280"/>
          </a:xfrm>
          <a:prstGeom prst="ellipse">
            <a:avLst/>
          </a:prstGeom>
          <a:solidFill>
            <a:srgbClr val="F3F5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10424160" y="2926080"/>
            <a:ext cx="2377080" cy="2377080"/>
          </a:xfrm>
          <a:prstGeom prst="ellipse">
            <a:avLst/>
          </a:prstGeom>
          <a:solidFill>
            <a:srgbClr val="E9EC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9281160" y="1600200"/>
            <a:ext cx="822600" cy="822600"/>
          </a:xfrm>
          <a:prstGeom prst="ellipse">
            <a:avLst/>
          </a:prstGeom>
          <a:solidFill>
            <a:srgbClr val="4C63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13" name="Text 3"/>
          <p:cNvSpPr/>
          <p:nvPr/>
        </p:nvSpPr>
        <p:spPr>
          <a:xfrm>
            <a:off x="640080" y="187452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1" u="none" spc="201" strike="noStrike">
                <a:solidFill>
                  <a:srgbClr val="4C63E6"/>
                </a:solidFill>
                <a:effectLst/>
                <a:uFillTx/>
                <a:latin typeface="맑은 고딕"/>
                <a:ea typeface="맑은 고딕"/>
              </a:rPr>
              <a:t>사용 가이드 </a:t>
            </a:r>
            <a:r>
              <a:rPr lang="en-US" sz="1300" b="1" u="none" spc="201" strike="noStrike">
                <a:solidFill>
                  <a:srgbClr val="4C63E6"/>
                </a:solidFill>
                <a:effectLst/>
                <a:uFillTx/>
                <a:latin typeface="맑은 고딕"/>
                <a:ea typeface="맑은 고딕"/>
              </a:rPr>
              <a:t>· WINDOWS </a:t>
            </a:r>
            <a:r>
              <a:rPr lang="ko-KR" sz="1300" b="1" u="none" spc="201" strike="noStrike">
                <a:solidFill>
                  <a:srgbClr val="4C63E6"/>
                </a:solidFill>
                <a:effectLst/>
                <a:uFillTx/>
                <a:latin typeface="맑은 고딕"/>
                <a:ea typeface="맑은 고딕"/>
              </a:rPr>
              <a:t>전용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4" name="Text 4"/>
          <p:cNvSpPr/>
          <p:nvPr/>
        </p:nvSpPr>
        <p:spPr>
          <a:xfrm>
            <a:off x="640080" y="2286000"/>
            <a:ext cx="8412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VibeCheck </a:t>
            </a:r>
            <a:r>
              <a:rPr lang="ko-KR" sz="52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실행 설명서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5" name="Text 5"/>
          <p:cNvSpPr/>
          <p:nvPr/>
        </p:nvSpPr>
        <p:spPr>
          <a:xfrm>
            <a:off x="640080" y="3520440"/>
            <a:ext cx="7863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6B7280"/>
                </a:solidFill>
                <a:effectLst/>
                <a:uFillTx/>
                <a:latin typeface="맑은 고딕"/>
                <a:ea typeface="맑은 고딕"/>
              </a:rPr>
              <a:t>Claude Code CLI</a:t>
            </a:r>
            <a:r>
              <a:rPr lang="ko-KR" sz="1700" b="0" u="none" strike="noStrike">
                <a:solidFill>
                  <a:srgbClr val="6B7280"/>
                </a:solidFill>
                <a:effectLst/>
                <a:uFillTx/>
                <a:latin typeface="맑은 고딕"/>
                <a:ea typeface="맑은 고딕"/>
              </a:rPr>
              <a:t>로 직접 바이브 코딩하고</a:t>
            </a:r>
            <a:r>
              <a:rPr lang="en-US" sz="1700" b="0" u="none" strike="noStrike">
                <a:solidFill>
                  <a:srgbClr val="6B7280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ko-KR" sz="1700" b="0" u="none" strike="noStrike">
                <a:solidFill>
                  <a:srgbClr val="6B7280"/>
                </a:solidFill>
                <a:effectLst/>
                <a:uFillTx/>
                <a:latin typeface="맑은 고딕"/>
                <a:ea typeface="맑은 고딕"/>
              </a:rPr>
              <a:t>그 효율</a:t>
            </a:r>
            <a:r>
              <a:rPr lang="en-US" sz="1700" b="0" u="none" strike="noStrike">
                <a:solidFill>
                  <a:srgbClr val="6B7280"/>
                </a:solidFill>
                <a:effectLst/>
                <a:uFillTx/>
                <a:latin typeface="맑은 고딕"/>
                <a:ea typeface="맑은 고딕"/>
              </a:rPr>
              <a:t>(</a:t>
            </a:r>
            <a:r>
              <a:rPr lang="ko-KR" sz="1700" b="0" u="none" strike="noStrike">
                <a:solidFill>
                  <a:srgbClr val="6B7280"/>
                </a:solidFill>
                <a:effectLst/>
                <a:uFillTx/>
                <a:latin typeface="맑은 고딕"/>
                <a:ea typeface="맑은 고딕"/>
              </a:rPr>
              <a:t>시간</a:t>
            </a:r>
            <a:r>
              <a:rPr lang="en-US" sz="1700" b="0" u="none" strike="noStrike">
                <a:solidFill>
                  <a:srgbClr val="6B7280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ko-KR" sz="1700" b="0" u="none" strike="noStrike">
                <a:solidFill>
                  <a:srgbClr val="6B7280"/>
                </a:solidFill>
                <a:effectLst/>
                <a:uFillTx/>
                <a:latin typeface="맑은 고딕"/>
                <a:ea typeface="맑은 고딕"/>
              </a:rPr>
              <a:t>토큰</a:t>
            </a:r>
            <a:r>
              <a:rPr lang="en-US" sz="1700" b="0" u="none" strike="noStrike">
                <a:solidFill>
                  <a:srgbClr val="6B7280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ko-KR" sz="1700" b="0" u="none" strike="noStrike">
                <a:solidFill>
                  <a:srgbClr val="6B7280"/>
                </a:solidFill>
                <a:effectLst/>
                <a:uFillTx/>
                <a:latin typeface="맑은 고딕"/>
                <a:ea typeface="맑은 고딕"/>
              </a:rPr>
              <a:t>품질</a:t>
            </a:r>
            <a:r>
              <a:rPr lang="en-US" sz="1700" b="0" u="none" strike="noStrike">
                <a:solidFill>
                  <a:srgbClr val="6B7280"/>
                </a:solidFill>
                <a:effectLst/>
                <a:uFillTx/>
                <a:latin typeface="맑은 고딕"/>
                <a:ea typeface="맑은 고딕"/>
              </a:rPr>
              <a:t>)</a:t>
            </a:r>
            <a:r>
              <a:rPr lang="ko-KR" sz="1700" b="0" u="none" strike="noStrike">
                <a:solidFill>
                  <a:srgbClr val="6B7280"/>
                </a:solidFill>
                <a:effectLst/>
                <a:uFillTx/>
                <a:latin typeface="맑은 고딕"/>
                <a:ea typeface="맑은 고딕"/>
              </a:rPr>
              <a:t>을 측정하는 프로그램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6" name="Text 6"/>
          <p:cNvSpPr/>
          <p:nvPr/>
        </p:nvSpPr>
        <p:spPr>
          <a:xfrm>
            <a:off x="640080" y="475488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500" b="0" u="none" strike="noStrike">
                <a:solidFill>
                  <a:srgbClr val="6B7280"/>
                </a:solidFill>
                <a:effectLst/>
                <a:uFillTx/>
                <a:latin typeface="맑은 고딕"/>
                <a:ea typeface="맑은 고딕"/>
              </a:rPr>
              <a:t>처음 실행하는 분을 위한 </a:t>
            </a:r>
            <a:r>
              <a:rPr lang="ko-KR" sz="15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설치 → 테스트 진행 → 채점</a:t>
            </a: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맑은 고딕"/>
                <a:ea typeface="맑은 고딕"/>
              </a:rPr>
              <a:t> 전 과정 안내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640080" y="45720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4C63E6"/>
                </a:solidFill>
                <a:effectLst/>
                <a:uFillTx/>
                <a:latin typeface="맑은 고딕"/>
                <a:ea typeface="맑은 고딕"/>
              </a:rPr>
              <a:t>WHAT IS IT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8" name="Text 1"/>
          <p:cNvSpPr/>
          <p:nvPr/>
        </p:nvSpPr>
        <p:spPr>
          <a:xfrm>
            <a:off x="640080" y="74988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VibeCheck</a:t>
            </a:r>
            <a:r>
              <a:rPr lang="ko-KR" sz="30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이란</a:t>
            </a:r>
            <a:r>
              <a:rPr lang="en-US" sz="30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?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9" name="Text 2"/>
          <p:cNvSpPr/>
          <p:nvPr/>
        </p:nvSpPr>
        <p:spPr>
          <a:xfrm>
            <a:off x="640080" y="160020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ko-KR" sz="15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고정된 코딩 과제를 </a:t>
            </a:r>
            <a:r>
              <a:rPr lang="en-US" sz="15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Claude Code CLI</a:t>
            </a:r>
            <a:r>
              <a:rPr lang="ko-KR" sz="15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로 직접 풀고</a:t>
            </a:r>
            <a:r>
              <a:rPr lang="en-US" sz="15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ko-KR" sz="15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얼마나 빠르게</a:t>
            </a:r>
            <a:r>
              <a:rPr lang="en-US" sz="15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ko-KR" sz="15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적은 토큰으로</a:t>
            </a:r>
            <a:r>
              <a:rPr lang="en-US" sz="15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ko-KR" sz="15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정확하게 완료했는지 자동으로 측정</a:t>
            </a:r>
            <a:r>
              <a:rPr lang="en-US" sz="15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ko-KR" sz="15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기록하는 도구입니다</a:t>
            </a:r>
            <a:r>
              <a:rPr lang="en-US" sz="15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0" name="Shape 3"/>
          <p:cNvSpPr/>
          <p:nvPr/>
        </p:nvSpPr>
        <p:spPr>
          <a:xfrm>
            <a:off x="640080" y="2514600"/>
            <a:ext cx="3501720" cy="3108600"/>
          </a:xfrm>
          <a:prstGeom prst="roundRect">
            <a:avLst>
              <a:gd name="adj" fmla="val 2647"/>
            </a:avLst>
          </a:prstGeom>
          <a:solidFill>
            <a:srgbClr val="F3F5FB"/>
          </a:solidFill>
          <a:ln w="12700">
            <a:solidFill>
              <a:srgbClr val="E3E7F1"/>
            </a:solidFill>
            <a:round/>
          </a:ln>
          <a:effectLst>
            <a:outerShdw algn="bl" blurRad="114480" dir="5400000" dist="38160" kx="0" ky="0" rotWithShape="0" sx="100000" sy="100000">
              <a:srgbClr val="9AA3B2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1" name="Shape 4"/>
          <p:cNvSpPr/>
          <p:nvPr/>
        </p:nvSpPr>
        <p:spPr>
          <a:xfrm>
            <a:off x="960120" y="2880360"/>
            <a:ext cx="456840" cy="456840"/>
          </a:xfrm>
          <a:prstGeom prst="ellipse">
            <a:avLst/>
          </a:prstGeom>
          <a:solidFill>
            <a:srgbClr val="4C63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22" name="Text 5"/>
          <p:cNvSpPr/>
          <p:nvPr/>
        </p:nvSpPr>
        <p:spPr>
          <a:xfrm>
            <a:off x="960120" y="2880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3" name="Text 6"/>
          <p:cNvSpPr/>
          <p:nvPr/>
        </p:nvSpPr>
        <p:spPr>
          <a:xfrm>
            <a:off x="960120" y="3566160"/>
            <a:ext cx="286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9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무엇을 측정</a:t>
            </a:r>
            <a:r>
              <a:rPr lang="en-US" sz="19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?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4" name="Text 7"/>
          <p:cNvSpPr/>
          <p:nvPr/>
        </p:nvSpPr>
        <p:spPr>
          <a:xfrm>
            <a:off x="960120" y="4114800"/>
            <a:ext cx="28616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4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소요 시간 </a:t>
            </a:r>
            <a:r>
              <a:rPr lang="en-US" sz="14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ko-KR" sz="14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토큰 사용량 </a:t>
            </a:r>
            <a:r>
              <a:rPr lang="en-US" sz="14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· </a:t>
            </a:r>
            <a:r>
              <a:rPr lang="ko-KR" sz="14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결과물 품질</a:t>
            </a:r>
            <a:r>
              <a:rPr lang="en-US" sz="14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(</a:t>
            </a:r>
            <a:r>
              <a:rPr lang="ko-KR" sz="14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테스트 통과율 </a:t>
            </a:r>
            <a:r>
              <a:rPr lang="en-US" sz="14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+ LLM </a:t>
            </a:r>
            <a:r>
              <a:rPr lang="ko-KR" sz="14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채점</a:t>
            </a:r>
            <a:r>
              <a:rPr lang="en-US" sz="14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5" name="Shape 8"/>
          <p:cNvSpPr/>
          <p:nvPr/>
        </p:nvSpPr>
        <p:spPr>
          <a:xfrm>
            <a:off x="4416480" y="2514600"/>
            <a:ext cx="3501720" cy="3108600"/>
          </a:xfrm>
          <a:prstGeom prst="roundRect">
            <a:avLst>
              <a:gd name="adj" fmla="val 2647"/>
            </a:avLst>
          </a:prstGeom>
          <a:solidFill>
            <a:srgbClr val="F3F5FB"/>
          </a:solidFill>
          <a:ln w="12700">
            <a:solidFill>
              <a:srgbClr val="E3E7F1"/>
            </a:solidFill>
            <a:round/>
          </a:ln>
          <a:effectLst>
            <a:outerShdw algn="bl" blurRad="114480" dir="5400000" dist="38160" kx="0" ky="0" rotWithShape="0" sx="100000" sy="100000">
              <a:srgbClr val="9AA3B2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6" name="Shape 9"/>
          <p:cNvSpPr/>
          <p:nvPr/>
        </p:nvSpPr>
        <p:spPr>
          <a:xfrm>
            <a:off x="4736520" y="2880360"/>
            <a:ext cx="456840" cy="456840"/>
          </a:xfrm>
          <a:prstGeom prst="ellipse">
            <a:avLst/>
          </a:prstGeom>
          <a:solidFill>
            <a:srgbClr val="4C63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27" name="Text 10"/>
          <p:cNvSpPr/>
          <p:nvPr/>
        </p:nvSpPr>
        <p:spPr>
          <a:xfrm>
            <a:off x="4736520" y="2880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4736520" y="3566160"/>
            <a:ext cx="286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9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어떻게</a:t>
            </a:r>
            <a:r>
              <a:rPr lang="en-US" sz="19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?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9" name="Text 12"/>
          <p:cNvSpPr/>
          <p:nvPr/>
        </p:nvSpPr>
        <p:spPr>
          <a:xfrm>
            <a:off x="4736520" y="4114800"/>
            <a:ext cx="28616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VS Code + </a:t>
            </a:r>
            <a:r>
              <a:rPr lang="ko-KR" sz="14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대화형 </a:t>
            </a:r>
            <a:r>
              <a:rPr lang="en-US" sz="14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Claude Code CLI</a:t>
            </a:r>
            <a:r>
              <a:rPr lang="ko-KR" sz="14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로 사람이 직접 코딩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0" name="Shape 13"/>
          <p:cNvSpPr/>
          <p:nvPr/>
        </p:nvSpPr>
        <p:spPr>
          <a:xfrm>
            <a:off x="8192880" y="2514600"/>
            <a:ext cx="3501720" cy="3108600"/>
          </a:xfrm>
          <a:prstGeom prst="roundRect">
            <a:avLst>
              <a:gd name="adj" fmla="val 2647"/>
            </a:avLst>
          </a:prstGeom>
          <a:solidFill>
            <a:srgbClr val="F3F5FB"/>
          </a:solidFill>
          <a:ln w="12700">
            <a:solidFill>
              <a:srgbClr val="E3E7F1"/>
            </a:solidFill>
            <a:round/>
          </a:ln>
          <a:effectLst>
            <a:outerShdw algn="bl" blurRad="114480" dir="5400000" dist="38160" kx="0" ky="0" rotWithShape="0" sx="100000" sy="100000">
              <a:srgbClr val="9AA3B2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1" name="Shape 14"/>
          <p:cNvSpPr/>
          <p:nvPr/>
        </p:nvSpPr>
        <p:spPr>
          <a:xfrm>
            <a:off x="8512920" y="2880360"/>
            <a:ext cx="456840" cy="456840"/>
          </a:xfrm>
          <a:prstGeom prst="ellipse">
            <a:avLst/>
          </a:prstGeom>
          <a:solidFill>
            <a:srgbClr val="4C63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32" name="Text 15"/>
          <p:cNvSpPr/>
          <p:nvPr/>
        </p:nvSpPr>
        <p:spPr>
          <a:xfrm>
            <a:off x="8512920" y="2880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3" name="Text 16"/>
          <p:cNvSpPr/>
          <p:nvPr/>
        </p:nvSpPr>
        <p:spPr>
          <a:xfrm>
            <a:off x="8512920" y="3566160"/>
            <a:ext cx="286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9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왜</a:t>
            </a:r>
            <a:r>
              <a:rPr lang="en-US" sz="19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?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4" name="Text 17"/>
          <p:cNvSpPr/>
          <p:nvPr/>
        </p:nvSpPr>
        <p:spPr>
          <a:xfrm>
            <a:off x="8512920" y="4114800"/>
            <a:ext cx="28616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4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프롬프트만 </a:t>
            </a:r>
            <a:r>
              <a:rPr lang="en-US" sz="14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vs </a:t>
            </a:r>
            <a:r>
              <a:rPr lang="ko-KR" sz="14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하네스 엔지니어링 활용 시</a:t>
            </a:r>
            <a:r>
              <a:rPr lang="en-US" sz="14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ko-KR" sz="14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효율이 얼마나 다른지 확인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/>
          <p:nvPr/>
        </p:nvSpPr>
        <p:spPr>
          <a:xfrm>
            <a:off x="640080" y="45720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4C63E6"/>
                </a:solidFill>
                <a:effectLst/>
                <a:uFillTx/>
                <a:latin typeface="맑은 고딕"/>
                <a:ea typeface="맑은 고딕"/>
              </a:rPr>
              <a:t>PREREQUISITES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6" name="Text 1"/>
          <p:cNvSpPr/>
          <p:nvPr/>
        </p:nvSpPr>
        <p:spPr>
          <a:xfrm>
            <a:off x="640080" y="74988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30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사전 준비물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7" name="Text 2"/>
          <p:cNvSpPr/>
          <p:nvPr/>
        </p:nvSpPr>
        <p:spPr>
          <a:xfrm>
            <a:off x="640080" y="160020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500" b="0" u="none" strike="noStrike">
                <a:solidFill>
                  <a:srgbClr val="6B7280"/>
                </a:solidFill>
                <a:effectLst/>
                <a:uFillTx/>
                <a:latin typeface="맑은 고딕"/>
                <a:ea typeface="맑은 고딕"/>
              </a:rPr>
              <a:t>아래 </a:t>
            </a: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맑은 고딕"/>
                <a:ea typeface="맑은 고딕"/>
              </a:rPr>
              <a:t>4</a:t>
            </a:r>
            <a:r>
              <a:rPr lang="ko-KR" sz="1500" b="0" u="none" strike="noStrike">
                <a:solidFill>
                  <a:srgbClr val="6B7280"/>
                </a:solidFill>
                <a:effectLst/>
                <a:uFillTx/>
                <a:latin typeface="맑은 고딕"/>
                <a:ea typeface="맑은 고딕"/>
              </a:rPr>
              <a:t>가지가 내 컴퓨터에 준비돼 있어야 합니다</a:t>
            </a: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8" name="Shape 3"/>
          <p:cNvSpPr/>
          <p:nvPr/>
        </p:nvSpPr>
        <p:spPr>
          <a:xfrm>
            <a:off x="640080" y="2148840"/>
            <a:ext cx="10881000" cy="9597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E7F1"/>
            </a:solidFill>
            <a:round/>
          </a:ln>
          <a:effectLst>
            <a:outerShdw algn="bl" blurRad="114480" dir="5400000" dist="38160" kx="0" ky="0" rotWithShape="0" sx="100000" sy="100000">
              <a:srgbClr val="9AA3B2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9" name="Shape 4"/>
          <p:cNvSpPr/>
          <p:nvPr/>
        </p:nvSpPr>
        <p:spPr>
          <a:xfrm>
            <a:off x="914400" y="2404800"/>
            <a:ext cx="456840" cy="456840"/>
          </a:xfrm>
          <a:prstGeom prst="ellipse">
            <a:avLst/>
          </a:prstGeom>
          <a:solidFill>
            <a:srgbClr val="2F3C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0" name="Text 5"/>
          <p:cNvSpPr/>
          <p:nvPr/>
        </p:nvSpPr>
        <p:spPr>
          <a:xfrm>
            <a:off x="914400" y="2404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1" name="Text 6"/>
          <p:cNvSpPr/>
          <p:nvPr/>
        </p:nvSpPr>
        <p:spPr>
          <a:xfrm>
            <a:off x="1645920" y="2277000"/>
            <a:ext cx="4205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Node.js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2" name="Text 7"/>
          <p:cNvSpPr/>
          <p:nvPr/>
        </p:nvSpPr>
        <p:spPr>
          <a:xfrm>
            <a:off x="6035040" y="2277000"/>
            <a:ext cx="5303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ko-KR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웹 대시보드</a:t>
            </a:r>
            <a:r>
              <a:rPr lang="en-US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(Next.js)</a:t>
            </a:r>
            <a:r>
              <a:rPr lang="ko-KR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를 실행하는 런타임</a:t>
            </a:r>
            <a:r>
              <a:rPr lang="en-US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. </a:t>
            </a:r>
            <a:r>
              <a:rPr lang="ko-KR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설치 후 터미널에서 </a:t>
            </a:r>
            <a:r>
              <a:rPr lang="en-US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node -v </a:t>
            </a:r>
            <a:r>
              <a:rPr lang="ko-KR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로 확인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3" name="Shape 8"/>
          <p:cNvSpPr/>
          <p:nvPr/>
        </p:nvSpPr>
        <p:spPr>
          <a:xfrm>
            <a:off x="640080" y="3227760"/>
            <a:ext cx="10881000" cy="9597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E7F1"/>
            </a:solidFill>
            <a:round/>
          </a:ln>
          <a:effectLst>
            <a:outerShdw algn="bl" blurRad="114480" dir="5400000" dist="38160" kx="0" ky="0" rotWithShape="0" sx="100000" sy="100000">
              <a:srgbClr val="9AA3B2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4" name="Shape 9"/>
          <p:cNvSpPr/>
          <p:nvPr/>
        </p:nvSpPr>
        <p:spPr>
          <a:xfrm>
            <a:off x="914400" y="3483720"/>
            <a:ext cx="456840" cy="456840"/>
          </a:xfrm>
          <a:prstGeom prst="ellipse">
            <a:avLst/>
          </a:prstGeom>
          <a:solidFill>
            <a:srgbClr val="2F3C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5" name="Text 10"/>
          <p:cNvSpPr/>
          <p:nvPr/>
        </p:nvSpPr>
        <p:spPr>
          <a:xfrm>
            <a:off x="914400" y="34837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6" name="Text 11"/>
          <p:cNvSpPr/>
          <p:nvPr/>
        </p:nvSpPr>
        <p:spPr>
          <a:xfrm>
            <a:off x="1645920" y="3355920"/>
            <a:ext cx="4205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Claude Code CLI + </a:t>
            </a:r>
            <a:r>
              <a:rPr lang="ko-KR" sz="17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구독 로그인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7" name="Text 12"/>
          <p:cNvSpPr/>
          <p:nvPr/>
        </p:nvSpPr>
        <p:spPr>
          <a:xfrm>
            <a:off x="6035040" y="3355920"/>
            <a:ext cx="5303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ko-KR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테스트는 내 </a:t>
            </a:r>
            <a:r>
              <a:rPr lang="en-US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Claude </a:t>
            </a:r>
            <a:r>
              <a:rPr lang="ko-KR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구독 계정으로 진행됩니다</a:t>
            </a:r>
            <a:r>
              <a:rPr lang="en-US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. claude </a:t>
            </a:r>
            <a:r>
              <a:rPr lang="ko-KR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설치 후 로그인 상태여야 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8" name="Shape 13"/>
          <p:cNvSpPr/>
          <p:nvPr/>
        </p:nvSpPr>
        <p:spPr>
          <a:xfrm>
            <a:off x="640080" y="4306680"/>
            <a:ext cx="10881000" cy="9597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E7F1"/>
            </a:solidFill>
            <a:round/>
          </a:ln>
          <a:effectLst>
            <a:outerShdw algn="bl" blurRad="114480" dir="5400000" dist="38160" kx="0" ky="0" rotWithShape="0" sx="100000" sy="100000">
              <a:srgbClr val="9AA3B2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9" name="Shape 14"/>
          <p:cNvSpPr/>
          <p:nvPr/>
        </p:nvSpPr>
        <p:spPr>
          <a:xfrm>
            <a:off x="914400" y="4563000"/>
            <a:ext cx="456840" cy="456840"/>
          </a:xfrm>
          <a:prstGeom prst="ellipse">
            <a:avLst/>
          </a:prstGeom>
          <a:solidFill>
            <a:srgbClr val="2F3C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0" name="Text 15"/>
          <p:cNvSpPr/>
          <p:nvPr/>
        </p:nvSpPr>
        <p:spPr>
          <a:xfrm>
            <a:off x="914400" y="456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1" name="Text 16"/>
          <p:cNvSpPr/>
          <p:nvPr/>
        </p:nvSpPr>
        <p:spPr>
          <a:xfrm>
            <a:off x="1645920" y="4434840"/>
            <a:ext cx="4205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VS Code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2" name="Text 17"/>
          <p:cNvSpPr/>
          <p:nvPr/>
        </p:nvSpPr>
        <p:spPr>
          <a:xfrm>
            <a:off x="6035040" y="4434840"/>
            <a:ext cx="5303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ko-KR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문제 풀이가 열리는 편집기</a:t>
            </a:r>
            <a:r>
              <a:rPr lang="en-US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. code </a:t>
            </a:r>
            <a:r>
              <a:rPr lang="ko-KR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명령이 </a:t>
            </a:r>
            <a:r>
              <a:rPr lang="en-US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PATH</a:t>
            </a:r>
            <a:r>
              <a:rPr lang="ko-KR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에 잡혀 있어야 자동 실행됨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3" name="Shape 18"/>
          <p:cNvSpPr/>
          <p:nvPr/>
        </p:nvSpPr>
        <p:spPr>
          <a:xfrm>
            <a:off x="640080" y="5385960"/>
            <a:ext cx="10881000" cy="9597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E7F1"/>
            </a:solidFill>
            <a:round/>
          </a:ln>
          <a:effectLst>
            <a:outerShdw algn="bl" blurRad="114480" dir="5400000" dist="38160" kx="0" ky="0" rotWithShape="0" sx="100000" sy="100000">
              <a:srgbClr val="9AA3B2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4" name="Shape 19"/>
          <p:cNvSpPr/>
          <p:nvPr/>
        </p:nvSpPr>
        <p:spPr>
          <a:xfrm>
            <a:off x="914400" y="5641920"/>
            <a:ext cx="456840" cy="456840"/>
          </a:xfrm>
          <a:prstGeom prst="ellipse">
            <a:avLst/>
          </a:prstGeom>
          <a:solidFill>
            <a:srgbClr val="2F3C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5" name="Text 20"/>
          <p:cNvSpPr/>
          <p:nvPr/>
        </p:nvSpPr>
        <p:spPr>
          <a:xfrm>
            <a:off x="914400" y="56419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6" name="Text 21"/>
          <p:cNvSpPr/>
          <p:nvPr/>
        </p:nvSpPr>
        <p:spPr>
          <a:xfrm>
            <a:off x="1645920" y="5513760"/>
            <a:ext cx="4205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Windows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7" name="Text 22"/>
          <p:cNvSpPr/>
          <p:nvPr/>
        </p:nvSpPr>
        <p:spPr>
          <a:xfrm>
            <a:off x="6035040" y="5513760"/>
            <a:ext cx="5303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ko-KR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현재 버전은 </a:t>
            </a:r>
            <a:r>
              <a:rPr lang="en-US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Windows </a:t>
            </a:r>
            <a:r>
              <a:rPr lang="ko-KR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전용입니다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1"/>
          <p:cNvSpPr/>
          <p:nvPr/>
        </p:nvSpPr>
        <p:spPr>
          <a:xfrm>
            <a:off x="640080" y="74988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30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설치하기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pic>
        <p:nvPicPr>
          <p:cNvPr id="59" name=""/>
          <p:cNvPicPr/>
          <p:nvPr/>
        </p:nvPicPr>
        <p:blipFill>
          <a:blip r:embed="rId1"/>
          <a:stretch/>
        </p:blipFill>
        <p:spPr>
          <a:xfrm>
            <a:off x="540000" y="900000"/>
            <a:ext cx="1476000" cy="564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"/>
          <p:cNvSpPr txBox="1"/>
          <p:nvPr/>
        </p:nvSpPr>
        <p:spPr>
          <a:xfrm>
            <a:off x="640080" y="540000"/>
            <a:ext cx="180720" cy="35388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1" name="Shape 10"/>
          <p:cNvSpPr/>
          <p:nvPr/>
        </p:nvSpPr>
        <p:spPr>
          <a:xfrm>
            <a:off x="317880" y="5940000"/>
            <a:ext cx="222120" cy="180000"/>
          </a:xfrm>
          <a:prstGeom prst="ellipse">
            <a:avLst/>
          </a:prstGeom>
          <a:solidFill>
            <a:srgbClr val="2F3C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62" name="Text 23"/>
          <p:cNvSpPr/>
          <p:nvPr/>
        </p:nvSpPr>
        <p:spPr>
          <a:xfrm>
            <a:off x="317880" y="5940000"/>
            <a:ext cx="22212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1080000" y="5946120"/>
            <a:ext cx="8548200" cy="39348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ko-KR" sz="1800" b="0" u="none" strike="noStrik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압축을 풀고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start.bat</a:t>
            </a:r>
            <a:r>
              <a:rPr lang="ko-KR" sz="1800" b="0" u="none" strike="noStrik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파일을 실행하면 자동으로 설치가 되고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VibeCheck </a:t>
            </a:r>
            <a:r>
              <a:rPr lang="ko-KR" sz="1800" b="0" u="none" strike="noStrik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웹이 실행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7020000" y="2088360"/>
            <a:ext cx="180720" cy="35388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pic>
        <p:nvPicPr>
          <p:cNvPr id="65" name=""/>
          <p:cNvPicPr/>
          <p:nvPr/>
        </p:nvPicPr>
        <p:blipFill>
          <a:blip r:embed="rId2"/>
          <a:stretch/>
        </p:blipFill>
        <p:spPr>
          <a:xfrm>
            <a:off x="2880000" y="1440000"/>
            <a:ext cx="6960600" cy="397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Shape 16"/>
          <p:cNvSpPr/>
          <p:nvPr/>
        </p:nvSpPr>
        <p:spPr>
          <a:xfrm>
            <a:off x="8820000" y="2520000"/>
            <a:ext cx="261720" cy="261720"/>
          </a:xfrm>
          <a:prstGeom prst="ellipse">
            <a:avLst/>
          </a:prstGeom>
          <a:solidFill>
            <a:srgbClr val="2F3C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67" name="Text 26"/>
          <p:cNvSpPr/>
          <p:nvPr/>
        </p:nvSpPr>
        <p:spPr>
          <a:xfrm>
            <a:off x="8820000" y="2520000"/>
            <a:ext cx="26172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pic>
        <p:nvPicPr>
          <p:cNvPr id="68" name=""/>
          <p:cNvPicPr/>
          <p:nvPr/>
        </p:nvPicPr>
        <p:blipFill>
          <a:blip r:embed="rId3"/>
          <a:stretch/>
        </p:blipFill>
        <p:spPr>
          <a:xfrm>
            <a:off x="10440000" y="2520000"/>
            <a:ext cx="1323720" cy="65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"/>
          <p:cNvSpPr txBox="1"/>
          <p:nvPr/>
        </p:nvSpPr>
        <p:spPr>
          <a:xfrm>
            <a:off x="8820000" y="3420000"/>
            <a:ext cx="2749320" cy="69660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ko-KR" sz="1800" b="0" u="none" strike="noStrik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시작을 누르면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VSCode</a:t>
            </a:r>
            <a:r>
              <a:rPr lang="ko-KR" sz="1800" b="0" u="none" strike="noStrik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r>
              <a:rPr lang="ko-KR" sz="1800" b="0" u="none" strike="noStrik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자동으로 실행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0" name="Shape 21"/>
          <p:cNvSpPr/>
          <p:nvPr/>
        </p:nvSpPr>
        <p:spPr>
          <a:xfrm>
            <a:off x="10620000" y="2520000"/>
            <a:ext cx="222120" cy="222120"/>
          </a:xfrm>
          <a:prstGeom prst="ellipse">
            <a:avLst/>
          </a:prstGeom>
          <a:solidFill>
            <a:srgbClr val="2F3C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71" name="Text 27"/>
          <p:cNvSpPr/>
          <p:nvPr/>
        </p:nvSpPr>
        <p:spPr>
          <a:xfrm>
            <a:off x="10620000" y="2520000"/>
            <a:ext cx="22212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/>
          <p:cNvPicPr/>
          <p:nvPr/>
        </p:nvPicPr>
        <p:blipFill>
          <a:blip r:embed="rId1"/>
          <a:stretch/>
        </p:blipFill>
        <p:spPr>
          <a:xfrm>
            <a:off x="180000" y="2880000"/>
            <a:ext cx="6729480" cy="396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"/>
          <p:cNvPicPr/>
          <p:nvPr/>
        </p:nvPicPr>
        <p:blipFill>
          <a:blip r:embed="rId2"/>
          <a:stretch/>
        </p:blipFill>
        <p:spPr>
          <a:xfrm>
            <a:off x="180000" y="360000"/>
            <a:ext cx="3623760" cy="271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"/>
          <p:cNvSpPr/>
          <p:nvPr/>
        </p:nvSpPr>
        <p:spPr>
          <a:xfrm>
            <a:off x="6120000" y="3168000"/>
            <a:ext cx="180000" cy="180000"/>
          </a:xfrm>
          <a:prstGeom prst="frame">
            <a:avLst>
              <a:gd name="adj1" fmla="val 9259"/>
            </a:avLst>
          </a:prstGeom>
          <a:solidFill>
            <a:srgbClr val="FF0000"/>
          </a:solidFill>
          <a:ln w="0">
            <a:solidFill>
              <a:srgbClr val="FF4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75" name="Shape 5"/>
          <p:cNvSpPr/>
          <p:nvPr/>
        </p:nvSpPr>
        <p:spPr>
          <a:xfrm>
            <a:off x="1800000" y="353880"/>
            <a:ext cx="186120" cy="186120"/>
          </a:xfrm>
          <a:prstGeom prst="ellipse">
            <a:avLst/>
          </a:prstGeom>
          <a:solidFill>
            <a:srgbClr val="0CA6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76" name="Text 18"/>
          <p:cNvSpPr/>
          <p:nvPr/>
        </p:nvSpPr>
        <p:spPr>
          <a:xfrm>
            <a:off x="1800000" y="353880"/>
            <a:ext cx="18612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7" name="Shape 17"/>
          <p:cNvSpPr/>
          <p:nvPr/>
        </p:nvSpPr>
        <p:spPr>
          <a:xfrm>
            <a:off x="1800360" y="354240"/>
            <a:ext cx="186120" cy="186120"/>
          </a:xfrm>
          <a:prstGeom prst="ellipse">
            <a:avLst/>
          </a:prstGeom>
          <a:solidFill>
            <a:srgbClr val="0CA6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78" name="Text 24"/>
          <p:cNvSpPr/>
          <p:nvPr/>
        </p:nvSpPr>
        <p:spPr>
          <a:xfrm>
            <a:off x="1800360" y="354240"/>
            <a:ext cx="18612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9" name="Shape 20"/>
          <p:cNvSpPr/>
          <p:nvPr/>
        </p:nvSpPr>
        <p:spPr>
          <a:xfrm>
            <a:off x="5940000" y="3053880"/>
            <a:ext cx="186120" cy="186120"/>
          </a:xfrm>
          <a:prstGeom prst="ellipse">
            <a:avLst/>
          </a:prstGeom>
          <a:solidFill>
            <a:srgbClr val="0CA6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80" name="Text 25"/>
          <p:cNvSpPr/>
          <p:nvPr/>
        </p:nvSpPr>
        <p:spPr>
          <a:xfrm>
            <a:off x="5940000" y="3053880"/>
            <a:ext cx="18612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pic>
        <p:nvPicPr>
          <p:cNvPr id="81" name=""/>
          <p:cNvPicPr/>
          <p:nvPr/>
        </p:nvPicPr>
        <p:blipFill>
          <a:blip r:embed="rId3"/>
          <a:stretch/>
        </p:blipFill>
        <p:spPr>
          <a:xfrm>
            <a:off x="6068880" y="180000"/>
            <a:ext cx="5451120" cy="231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Shape 11"/>
          <p:cNvSpPr/>
          <p:nvPr/>
        </p:nvSpPr>
        <p:spPr>
          <a:xfrm>
            <a:off x="1973880" y="5213880"/>
            <a:ext cx="186120" cy="186120"/>
          </a:xfrm>
          <a:prstGeom prst="ellipse">
            <a:avLst/>
          </a:prstGeom>
          <a:solidFill>
            <a:srgbClr val="0CA6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83" name="Text 19"/>
          <p:cNvSpPr/>
          <p:nvPr/>
        </p:nvSpPr>
        <p:spPr>
          <a:xfrm>
            <a:off x="1973880" y="5213880"/>
            <a:ext cx="18612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84" name="Shape 22"/>
          <p:cNvSpPr/>
          <p:nvPr/>
        </p:nvSpPr>
        <p:spPr>
          <a:xfrm>
            <a:off x="6300000" y="1980000"/>
            <a:ext cx="186120" cy="186120"/>
          </a:xfrm>
          <a:prstGeom prst="ellipse">
            <a:avLst/>
          </a:prstGeom>
          <a:solidFill>
            <a:srgbClr val="0CA6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85" name="Text 28"/>
          <p:cNvSpPr/>
          <p:nvPr/>
        </p:nvSpPr>
        <p:spPr>
          <a:xfrm>
            <a:off x="6300000" y="1980000"/>
            <a:ext cx="18612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pic>
        <p:nvPicPr>
          <p:cNvPr id="86" name=""/>
          <p:cNvPicPr/>
          <p:nvPr/>
        </p:nvPicPr>
        <p:blipFill>
          <a:blip r:embed="rId4"/>
          <a:stretch/>
        </p:blipFill>
        <p:spPr>
          <a:xfrm>
            <a:off x="6660000" y="3420000"/>
            <a:ext cx="5344920" cy="2513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640080" y="45720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4C63E6"/>
                </a:solidFill>
                <a:effectLst/>
                <a:uFillTx/>
                <a:latin typeface="맑은 고딕"/>
                <a:ea typeface="맑은 고딕"/>
              </a:rPr>
              <a:t>STEP 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88" name="Text 1"/>
          <p:cNvSpPr/>
          <p:nvPr/>
        </p:nvSpPr>
        <p:spPr>
          <a:xfrm>
            <a:off x="640080" y="74988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30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테스트 진행 — </a:t>
            </a:r>
            <a:r>
              <a:rPr lang="en-US" sz="30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VS Code</a:t>
            </a:r>
            <a:r>
              <a:rPr lang="ko-KR" sz="30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에서 풀기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640080" y="1783080"/>
            <a:ext cx="10881000" cy="1188360"/>
          </a:xfrm>
          <a:prstGeom prst="roundRect">
            <a:avLst>
              <a:gd name="adj" fmla="val 6923"/>
            </a:avLst>
          </a:prstGeom>
          <a:solidFill>
            <a:srgbClr val="F3F5FB"/>
          </a:solidFill>
          <a:ln w="12700">
            <a:solidFill>
              <a:srgbClr val="E3E7F1"/>
            </a:solidFill>
            <a:round/>
          </a:ln>
          <a:effectLst>
            <a:outerShdw algn="bl" blurRad="114480" dir="5400000" dist="38160" kx="0" ky="0" rotWithShape="0" sx="100000" sy="100000">
              <a:srgbClr val="9AA3B2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90" name="Shape 3"/>
          <p:cNvSpPr/>
          <p:nvPr/>
        </p:nvSpPr>
        <p:spPr>
          <a:xfrm>
            <a:off x="960120" y="2103120"/>
            <a:ext cx="456840" cy="456840"/>
          </a:xfrm>
          <a:prstGeom prst="ellipse">
            <a:avLst/>
          </a:prstGeom>
          <a:solidFill>
            <a:srgbClr val="4C63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91" name="Text 4"/>
          <p:cNvSpPr/>
          <p:nvPr/>
        </p:nvSpPr>
        <p:spPr>
          <a:xfrm>
            <a:off x="960120" y="2103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92" name="Text 5"/>
          <p:cNvSpPr/>
          <p:nvPr/>
        </p:nvSpPr>
        <p:spPr>
          <a:xfrm>
            <a:off x="1691640" y="1947600"/>
            <a:ext cx="9509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7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화면의 문제를 직접 타이핑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93" name="Text 6"/>
          <p:cNvSpPr/>
          <p:nvPr/>
        </p:nvSpPr>
        <p:spPr>
          <a:xfrm>
            <a:off x="1691640" y="2350080"/>
            <a:ext cx="9509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ko-KR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세션은 빈 채로 열립니다</a:t>
            </a:r>
            <a:r>
              <a:rPr lang="en-US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. </a:t>
            </a:r>
            <a:r>
              <a:rPr lang="ko-KR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대시보드에 표시된 문제를 보고</a:t>
            </a:r>
            <a:r>
              <a:rPr lang="en-US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, </a:t>
            </a:r>
            <a:r>
              <a:rPr lang="ko-KR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터미널의 </a:t>
            </a:r>
            <a:r>
              <a:rPr lang="en-US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claude</a:t>
            </a:r>
            <a:r>
              <a:rPr lang="ko-KR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에게 직접 입력해 시작하세요</a:t>
            </a:r>
            <a:r>
              <a:rPr lang="en-US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94" name="Shape 7"/>
          <p:cNvSpPr/>
          <p:nvPr/>
        </p:nvSpPr>
        <p:spPr>
          <a:xfrm>
            <a:off x="640080" y="3108960"/>
            <a:ext cx="10881000" cy="1188360"/>
          </a:xfrm>
          <a:prstGeom prst="roundRect">
            <a:avLst>
              <a:gd name="adj" fmla="val 6923"/>
            </a:avLst>
          </a:prstGeom>
          <a:solidFill>
            <a:srgbClr val="F3F5FB"/>
          </a:solidFill>
          <a:ln w="12700">
            <a:solidFill>
              <a:srgbClr val="E3E7F1"/>
            </a:solidFill>
            <a:round/>
          </a:ln>
          <a:effectLst>
            <a:outerShdw algn="bl" blurRad="114480" dir="5400000" dist="38160" kx="0" ky="0" rotWithShape="0" sx="100000" sy="100000">
              <a:srgbClr val="9AA3B2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95" name="Shape 8"/>
          <p:cNvSpPr/>
          <p:nvPr/>
        </p:nvSpPr>
        <p:spPr>
          <a:xfrm>
            <a:off x="960120" y="3429000"/>
            <a:ext cx="456840" cy="456840"/>
          </a:xfrm>
          <a:prstGeom prst="ellipse">
            <a:avLst/>
          </a:prstGeom>
          <a:solidFill>
            <a:srgbClr val="4C63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96" name="Text 9"/>
          <p:cNvSpPr/>
          <p:nvPr/>
        </p:nvSpPr>
        <p:spPr>
          <a:xfrm>
            <a:off x="960120" y="3429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97" name="Text 10"/>
          <p:cNvSpPr/>
          <p:nvPr/>
        </p:nvSpPr>
        <p:spPr>
          <a:xfrm>
            <a:off x="1691640" y="3273480"/>
            <a:ext cx="9509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7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첫 실행 시 폴더 신뢰 </a:t>
            </a:r>
            <a:r>
              <a:rPr lang="en-US" sz="17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1</a:t>
            </a:r>
            <a:r>
              <a:rPr lang="ko-KR" sz="17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회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98" name="Text 11"/>
          <p:cNvSpPr/>
          <p:nvPr/>
        </p:nvSpPr>
        <p:spPr>
          <a:xfrm>
            <a:off x="1691640" y="3675960"/>
            <a:ext cx="9509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VS Code</a:t>
            </a:r>
            <a:r>
              <a:rPr lang="ko-KR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가 ‘폴더 작성자를 신뢰합니까</a:t>
            </a:r>
            <a:r>
              <a:rPr lang="en-US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?’</a:t>
            </a:r>
            <a:r>
              <a:rPr lang="ko-KR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를 물으면 신뢰를 눌러야 </a:t>
            </a:r>
            <a:r>
              <a:rPr lang="en-US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claude</a:t>
            </a:r>
            <a:r>
              <a:rPr lang="ko-KR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가 자동 실행됩니다</a:t>
            </a:r>
            <a:r>
              <a:rPr lang="en-US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99" name="Shape 12"/>
          <p:cNvSpPr/>
          <p:nvPr/>
        </p:nvSpPr>
        <p:spPr>
          <a:xfrm>
            <a:off x="640080" y="4434840"/>
            <a:ext cx="10881000" cy="1188360"/>
          </a:xfrm>
          <a:prstGeom prst="roundRect">
            <a:avLst>
              <a:gd name="adj" fmla="val 6923"/>
            </a:avLst>
          </a:prstGeom>
          <a:solidFill>
            <a:srgbClr val="F3F5FB"/>
          </a:solidFill>
          <a:ln w="12700">
            <a:solidFill>
              <a:srgbClr val="E3E7F1"/>
            </a:solidFill>
            <a:round/>
          </a:ln>
          <a:effectLst>
            <a:outerShdw algn="bl" blurRad="114480" dir="5400000" dist="38160" kx="0" ky="0" rotWithShape="0" sx="100000" sy="100000">
              <a:srgbClr val="9AA3B2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00" name="Shape 13"/>
          <p:cNvSpPr/>
          <p:nvPr/>
        </p:nvSpPr>
        <p:spPr>
          <a:xfrm>
            <a:off x="960120" y="4754880"/>
            <a:ext cx="456840" cy="456840"/>
          </a:xfrm>
          <a:prstGeom prst="ellipse">
            <a:avLst/>
          </a:prstGeom>
          <a:solidFill>
            <a:srgbClr val="4C63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101" name="Text 14"/>
          <p:cNvSpPr/>
          <p:nvPr/>
        </p:nvSpPr>
        <p:spPr>
          <a:xfrm>
            <a:off x="960120" y="47548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맑은 고딕"/>
                <a:ea typeface="맑은 고딕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02" name="Text 15"/>
          <p:cNvSpPr/>
          <p:nvPr/>
        </p:nvSpPr>
        <p:spPr>
          <a:xfrm>
            <a:off x="1691640" y="4599360"/>
            <a:ext cx="9509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7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평소처럼 바이브 코딩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03" name="Text 16"/>
          <p:cNvSpPr/>
          <p:nvPr/>
        </p:nvSpPr>
        <p:spPr>
          <a:xfrm>
            <a:off x="1691640" y="5001840"/>
            <a:ext cx="9509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Claude Code</a:t>
            </a:r>
            <a:r>
              <a:rPr lang="ko-KR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와 대화하며 파일을 만들고 고칩니다</a:t>
            </a:r>
            <a:r>
              <a:rPr lang="en-US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. </a:t>
            </a:r>
            <a:r>
              <a:rPr lang="ko-KR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진행 시간</a:t>
            </a:r>
            <a:r>
              <a:rPr lang="en-US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ko-KR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토큰은 대시보드에서 실시간으로 보입니다</a:t>
            </a:r>
            <a:r>
              <a:rPr lang="en-US" sz="135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640080" y="45720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4C63E6"/>
                </a:solidFill>
                <a:effectLst/>
                <a:uFillTx/>
                <a:latin typeface="맑은 고딕"/>
                <a:ea typeface="맑은 고딕"/>
              </a:rPr>
              <a:t>STEP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640080" y="74988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30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단계형 문제 — 단계별 제출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06" name="Text 2"/>
          <p:cNvSpPr/>
          <p:nvPr/>
        </p:nvSpPr>
        <p:spPr>
          <a:xfrm>
            <a:off x="640080" y="1600200"/>
            <a:ext cx="10881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5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일부 문제는 여러 단계로 나뉩니다</a:t>
            </a:r>
            <a:r>
              <a:rPr lang="en-US" sz="15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. ‘</a:t>
            </a:r>
            <a:r>
              <a:rPr lang="ko-KR" sz="15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이 단계 제출’로 게이트를 통과해야 다음 단계가 열립니다</a:t>
            </a:r>
            <a:r>
              <a:rPr lang="en-US" sz="15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07" name="Shape 3"/>
          <p:cNvSpPr/>
          <p:nvPr/>
        </p:nvSpPr>
        <p:spPr>
          <a:xfrm>
            <a:off x="640080" y="2514600"/>
            <a:ext cx="2514240" cy="137124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 w="12700">
            <a:solidFill>
              <a:srgbClr val="E3E7F1"/>
            </a:solidFill>
            <a:round/>
          </a:ln>
          <a:effectLst>
            <a:outerShdw algn="bl" blurRad="114480" dir="5400000" dist="38160" kx="0" ky="0" rotWithShape="0" sx="100000" sy="100000">
              <a:srgbClr val="9AA3B2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731520" y="2606040"/>
            <a:ext cx="2331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1</a:t>
            </a:r>
            <a:r>
              <a:rPr lang="ko-KR" sz="15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단계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요구사항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09" name="Text 5"/>
          <p:cNvSpPr/>
          <p:nvPr/>
        </p:nvSpPr>
        <p:spPr>
          <a:xfrm>
            <a:off x="3136320" y="2514600"/>
            <a:ext cx="3196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4C63E6"/>
                </a:solidFill>
                <a:effectLst/>
                <a:uFillTx/>
                <a:latin typeface="맑은 고딕"/>
                <a:ea typeface="맑은 고딕"/>
              </a:rPr>
              <a:t>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10" name="Shape 6"/>
          <p:cNvSpPr/>
          <p:nvPr/>
        </p:nvSpPr>
        <p:spPr>
          <a:xfrm>
            <a:off x="3474720" y="2514600"/>
            <a:ext cx="2514240" cy="1371240"/>
          </a:xfrm>
          <a:prstGeom prst="roundRect">
            <a:avLst>
              <a:gd name="adj" fmla="val 6000"/>
            </a:avLst>
          </a:prstGeom>
          <a:solidFill>
            <a:srgbClr val="E9F8F1"/>
          </a:solidFill>
          <a:ln w="12700">
            <a:solidFill>
              <a:srgbClr val="E3E7F1"/>
            </a:solidFill>
            <a:round/>
          </a:ln>
          <a:effectLst>
            <a:outerShdw algn="bl" blurRad="114480" dir="5400000" dist="38160" kx="0" ky="0" rotWithShape="0" sx="100000" sy="100000">
              <a:srgbClr val="9AA3B2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11" name="Text 7"/>
          <p:cNvSpPr/>
          <p:nvPr/>
        </p:nvSpPr>
        <p:spPr>
          <a:xfrm>
            <a:off x="3566160" y="2606040"/>
            <a:ext cx="2331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제출 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게이트 채점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12" name="Text 8"/>
          <p:cNvSpPr/>
          <p:nvPr/>
        </p:nvSpPr>
        <p:spPr>
          <a:xfrm>
            <a:off x="5970960" y="2514600"/>
            <a:ext cx="3196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4C63E6"/>
                </a:solidFill>
                <a:effectLst/>
                <a:uFillTx/>
                <a:latin typeface="맑은 고딕"/>
                <a:ea typeface="맑은 고딕"/>
              </a:rPr>
              <a:t>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13" name="Shape 9"/>
          <p:cNvSpPr/>
          <p:nvPr/>
        </p:nvSpPr>
        <p:spPr>
          <a:xfrm>
            <a:off x="6309360" y="2514600"/>
            <a:ext cx="2514240" cy="137124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 w="12700">
            <a:solidFill>
              <a:srgbClr val="E3E7F1"/>
            </a:solidFill>
            <a:round/>
          </a:ln>
          <a:effectLst>
            <a:outerShdw algn="bl" blurRad="114480" dir="5400000" dist="38160" kx="0" ky="0" rotWithShape="0" sx="100000" sy="100000">
              <a:srgbClr val="9AA3B2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14" name="Text 10"/>
          <p:cNvSpPr/>
          <p:nvPr/>
        </p:nvSpPr>
        <p:spPr>
          <a:xfrm>
            <a:off x="6400800" y="2606040"/>
            <a:ext cx="2331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통과 시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다음 단계 공개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15" name="Text 11"/>
          <p:cNvSpPr/>
          <p:nvPr/>
        </p:nvSpPr>
        <p:spPr>
          <a:xfrm>
            <a:off x="8805600" y="2514600"/>
            <a:ext cx="3196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4C63E6"/>
                </a:solidFill>
                <a:effectLst/>
                <a:uFillTx/>
                <a:latin typeface="맑은 고딕"/>
                <a:ea typeface="맑은 고딕"/>
              </a:rPr>
              <a:t>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16" name="Shape 12"/>
          <p:cNvSpPr/>
          <p:nvPr/>
        </p:nvSpPr>
        <p:spPr>
          <a:xfrm>
            <a:off x="9144000" y="2514600"/>
            <a:ext cx="2514240" cy="1371240"/>
          </a:xfrm>
          <a:prstGeom prst="roundRect">
            <a:avLst>
              <a:gd name="adj" fmla="val 6000"/>
            </a:avLst>
          </a:prstGeom>
          <a:solidFill>
            <a:srgbClr val="E9F8F1"/>
          </a:solidFill>
          <a:ln w="12700">
            <a:solidFill>
              <a:srgbClr val="E3E7F1"/>
            </a:solidFill>
            <a:round/>
          </a:ln>
          <a:effectLst>
            <a:outerShdw algn="bl" blurRad="114480" dir="5400000" dist="38160" kx="0" ky="0" rotWithShape="0" sx="100000" sy="100000">
              <a:srgbClr val="9AA3B2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17" name="Text 13"/>
          <p:cNvSpPr/>
          <p:nvPr/>
        </p:nvSpPr>
        <p:spPr>
          <a:xfrm>
            <a:off x="9235440" y="2606040"/>
            <a:ext cx="2331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반복 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완료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18" name="Shape 14"/>
          <p:cNvSpPr/>
          <p:nvPr/>
        </p:nvSpPr>
        <p:spPr>
          <a:xfrm>
            <a:off x="640080" y="4297680"/>
            <a:ext cx="10881000" cy="1416960"/>
          </a:xfrm>
          <a:prstGeom prst="roundRect">
            <a:avLst>
              <a:gd name="adj" fmla="val 5806"/>
            </a:avLst>
          </a:prstGeom>
          <a:solidFill>
            <a:srgbClr val="FDF1E9"/>
          </a:solidFill>
          <a:ln w="12700">
            <a:solidFill>
              <a:srgbClr val="E3E7F1"/>
            </a:solidFill>
            <a:round/>
          </a:ln>
          <a:effectLst>
            <a:outerShdw algn="bl" blurRad="114480" dir="5400000" dist="38160" kx="0" ky="0" rotWithShape="0" sx="100000" sy="100000">
              <a:srgbClr val="9AA3B2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19" name="Text 15"/>
          <p:cNvSpPr/>
          <p:nvPr/>
        </p:nvSpPr>
        <p:spPr>
          <a:xfrm>
            <a:off x="1005840" y="4480560"/>
            <a:ext cx="101494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rgbClr val="E8590C"/>
                </a:solidFill>
                <a:effectLst/>
                <a:uFillTx/>
                <a:latin typeface="맑은 고딕"/>
                <a:ea typeface="맑은 고딕"/>
              </a:rPr>
              <a:t>왜 이렇게</a:t>
            </a:r>
            <a:r>
              <a:rPr lang="en-US" sz="1400" b="1" u="none" strike="noStrike">
                <a:solidFill>
                  <a:srgbClr val="E8590C"/>
                </a:solidFill>
                <a:effectLst/>
                <a:uFillTx/>
                <a:latin typeface="맑은 고딕"/>
                <a:ea typeface="맑은 고딕"/>
              </a:rPr>
              <a:t>? </a:t>
            </a:r>
            <a:r>
              <a:rPr lang="ko-KR" sz="14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전체 스펙을 한 번에 다 보여주면 ‘문서 찾아 한 방에 끝내기’가 돼서 측정 의미가 사라집니다</a:t>
            </a:r>
            <a:r>
              <a:rPr lang="en-US" sz="14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. </a:t>
            </a:r>
            <a:r>
              <a:rPr lang="ko-KR" sz="14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실제로 단계를 밟아야만 진행되도록 설계됐습니다</a:t>
            </a:r>
            <a:r>
              <a:rPr lang="en-US" sz="14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/>
          <p:nvPr/>
        </p:nvSpPr>
        <p:spPr>
          <a:xfrm>
            <a:off x="640080" y="45720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4C63E6"/>
                </a:solidFill>
                <a:effectLst/>
                <a:uFillTx/>
                <a:latin typeface="맑은 고딕"/>
                <a:ea typeface="맑은 고딕"/>
              </a:rPr>
              <a:t>STEP 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640080" y="74988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30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완료 </a:t>
            </a:r>
            <a:r>
              <a:rPr lang="en-US" sz="30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&amp; </a:t>
            </a:r>
            <a:r>
              <a:rPr lang="ko-KR" sz="3000" b="1" u="none" strike="noStrike">
                <a:solidFill>
                  <a:srgbClr val="2F3C7E"/>
                </a:solidFill>
                <a:effectLst/>
                <a:uFillTx/>
                <a:latin typeface="맑은 고딕"/>
                <a:ea typeface="맑은 고딕"/>
              </a:rPr>
              <a:t>자동 채점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22" name="Text 2"/>
          <p:cNvSpPr/>
          <p:nvPr/>
        </p:nvSpPr>
        <p:spPr>
          <a:xfrm>
            <a:off x="640080" y="1600200"/>
            <a:ext cx="10881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5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다 풀었으면 대시보드에서 ‘완료’를 누릅니다</a:t>
            </a:r>
            <a:r>
              <a:rPr lang="en-US" sz="15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. </a:t>
            </a:r>
            <a:r>
              <a:rPr lang="ko-KR" sz="15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그 순간 측정값이 확정되고 자동 채점이 시작됩니다</a:t>
            </a:r>
            <a:r>
              <a:rPr lang="en-US" sz="15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23" name="Shape 3"/>
          <p:cNvSpPr/>
          <p:nvPr/>
        </p:nvSpPr>
        <p:spPr>
          <a:xfrm>
            <a:off x="640080" y="2468880"/>
            <a:ext cx="2587320" cy="1828440"/>
          </a:xfrm>
          <a:prstGeom prst="roundRect">
            <a:avLst>
              <a:gd name="adj" fmla="val 4500"/>
            </a:avLst>
          </a:prstGeom>
          <a:solidFill>
            <a:srgbClr val="F3F5FB"/>
          </a:solidFill>
          <a:ln w="12700">
            <a:solidFill>
              <a:srgbClr val="E3E7F1"/>
            </a:solidFill>
            <a:round/>
          </a:ln>
          <a:effectLst>
            <a:outerShdw algn="bl" blurRad="114480" dir="5400000" dist="38160" kx="0" ky="0" rotWithShape="0" sx="100000" sy="100000">
              <a:srgbClr val="9AA3B2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24" name="Text 4"/>
          <p:cNvSpPr/>
          <p:nvPr/>
        </p:nvSpPr>
        <p:spPr>
          <a:xfrm>
            <a:off x="868680" y="2697480"/>
            <a:ext cx="213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800" b="1" u="none" strike="noStrike">
                <a:solidFill>
                  <a:srgbClr val="4C63E6"/>
                </a:solidFill>
                <a:effectLst/>
                <a:uFillTx/>
                <a:latin typeface="맑은 고딕"/>
                <a:ea typeface="맑은 고딕"/>
              </a:rPr>
              <a:t>시간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25" name="Text 5"/>
          <p:cNvSpPr/>
          <p:nvPr/>
        </p:nvSpPr>
        <p:spPr>
          <a:xfrm>
            <a:off x="868680" y="3246120"/>
            <a:ext cx="2130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세션 시작부터 완료까지 벽시계 시간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26" name="Shape 6"/>
          <p:cNvSpPr/>
          <p:nvPr/>
        </p:nvSpPr>
        <p:spPr>
          <a:xfrm>
            <a:off x="3483720" y="2468880"/>
            <a:ext cx="2587320" cy="1828440"/>
          </a:xfrm>
          <a:prstGeom prst="roundRect">
            <a:avLst>
              <a:gd name="adj" fmla="val 4500"/>
            </a:avLst>
          </a:prstGeom>
          <a:solidFill>
            <a:srgbClr val="F3F5FB"/>
          </a:solidFill>
          <a:ln w="12700">
            <a:solidFill>
              <a:srgbClr val="E3E7F1"/>
            </a:solidFill>
            <a:round/>
          </a:ln>
          <a:effectLst>
            <a:outerShdw algn="bl" blurRad="114480" dir="5400000" dist="38160" kx="0" ky="0" rotWithShape="0" sx="100000" sy="100000">
              <a:srgbClr val="9AA3B2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27" name="Text 7"/>
          <p:cNvSpPr/>
          <p:nvPr/>
        </p:nvSpPr>
        <p:spPr>
          <a:xfrm>
            <a:off x="3712320" y="2697480"/>
            <a:ext cx="213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800" b="1" u="none" strike="noStrike">
                <a:solidFill>
                  <a:srgbClr val="4C63E6"/>
                </a:solidFill>
                <a:effectLst/>
                <a:uFillTx/>
                <a:latin typeface="맑은 고딕"/>
                <a:ea typeface="맑은 고딕"/>
              </a:rPr>
              <a:t>토큰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28" name="Text 8"/>
          <p:cNvSpPr/>
          <p:nvPr/>
        </p:nvSpPr>
        <p:spPr>
          <a:xfrm>
            <a:off x="3712320" y="3246120"/>
            <a:ext cx="2130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세션이 사용한 토큰</a:t>
            </a:r>
            <a:r>
              <a:rPr lang="en-US" sz="13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(</a:t>
            </a:r>
            <a:r>
              <a:rPr lang="ko-KR" sz="13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하네스 추정치</a:t>
            </a:r>
            <a:r>
              <a:rPr lang="en-US" sz="13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29" name="Shape 9"/>
          <p:cNvSpPr/>
          <p:nvPr/>
        </p:nvSpPr>
        <p:spPr>
          <a:xfrm>
            <a:off x="6327720" y="2468880"/>
            <a:ext cx="2587320" cy="1828440"/>
          </a:xfrm>
          <a:prstGeom prst="roundRect">
            <a:avLst>
              <a:gd name="adj" fmla="val 4500"/>
            </a:avLst>
          </a:prstGeom>
          <a:solidFill>
            <a:srgbClr val="F3F5FB"/>
          </a:solidFill>
          <a:ln w="12700">
            <a:solidFill>
              <a:srgbClr val="E3E7F1"/>
            </a:solidFill>
            <a:round/>
          </a:ln>
          <a:effectLst>
            <a:outerShdw algn="bl" blurRad="114480" dir="5400000" dist="38160" kx="0" ky="0" rotWithShape="0" sx="100000" sy="100000">
              <a:srgbClr val="9AA3B2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30" name="Text 10"/>
          <p:cNvSpPr/>
          <p:nvPr/>
        </p:nvSpPr>
        <p:spPr>
          <a:xfrm>
            <a:off x="6556320" y="2697480"/>
            <a:ext cx="213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800" b="1" u="none" strike="noStrike">
                <a:solidFill>
                  <a:srgbClr val="4C63E6"/>
                </a:solidFill>
                <a:effectLst/>
                <a:uFillTx/>
                <a:latin typeface="맑은 고딕"/>
                <a:ea typeface="맑은 고딕"/>
              </a:rPr>
              <a:t>테스트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31" name="Text 11"/>
          <p:cNvSpPr/>
          <p:nvPr/>
        </p:nvSpPr>
        <p:spPr>
          <a:xfrm>
            <a:off x="6556320" y="3246120"/>
            <a:ext cx="2130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히든 테스트 통과율 자동 채점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32" name="Shape 12"/>
          <p:cNvSpPr/>
          <p:nvPr/>
        </p:nvSpPr>
        <p:spPr>
          <a:xfrm>
            <a:off x="9171360" y="2468880"/>
            <a:ext cx="2587320" cy="1828440"/>
          </a:xfrm>
          <a:prstGeom prst="roundRect">
            <a:avLst>
              <a:gd name="adj" fmla="val 4500"/>
            </a:avLst>
          </a:prstGeom>
          <a:solidFill>
            <a:srgbClr val="F3F5FB"/>
          </a:solidFill>
          <a:ln w="12700">
            <a:solidFill>
              <a:srgbClr val="E3E7F1"/>
            </a:solidFill>
            <a:round/>
          </a:ln>
          <a:effectLst>
            <a:outerShdw algn="bl" blurRad="114480" dir="5400000" dist="38160" kx="0" ky="0" rotWithShape="0" sx="100000" sy="100000">
              <a:srgbClr val="9AA3B2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33" name="Text 13"/>
          <p:cNvSpPr/>
          <p:nvPr/>
        </p:nvSpPr>
        <p:spPr>
          <a:xfrm>
            <a:off x="9399960" y="2697480"/>
            <a:ext cx="213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4C63E6"/>
                </a:solidFill>
                <a:effectLst/>
                <a:uFillTx/>
                <a:latin typeface="맑은 고딕"/>
                <a:ea typeface="맑은 고딕"/>
              </a:rPr>
              <a:t>LLM </a:t>
            </a:r>
            <a:r>
              <a:rPr lang="ko-KR" sz="1800" b="1" u="none" strike="noStrike">
                <a:solidFill>
                  <a:srgbClr val="4C63E6"/>
                </a:solidFill>
                <a:effectLst/>
                <a:uFillTx/>
                <a:latin typeface="맑은 고딕"/>
                <a:ea typeface="맑은 고딕"/>
              </a:rPr>
              <a:t>채점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34" name="Text 14"/>
          <p:cNvSpPr/>
          <p:nvPr/>
        </p:nvSpPr>
        <p:spPr>
          <a:xfrm>
            <a:off x="9399960" y="3246120"/>
            <a:ext cx="2130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루브릭 기반 품질 평가</a:t>
            </a:r>
            <a:r>
              <a:rPr lang="en-US" sz="13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(OpenAI)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35" name="Shape 15"/>
          <p:cNvSpPr/>
          <p:nvPr/>
        </p:nvSpPr>
        <p:spPr>
          <a:xfrm>
            <a:off x="640080" y="4617720"/>
            <a:ext cx="10881000" cy="1096920"/>
          </a:xfrm>
          <a:prstGeom prst="roundRect">
            <a:avLst>
              <a:gd name="adj" fmla="val 7500"/>
            </a:avLst>
          </a:prstGeom>
          <a:solidFill>
            <a:srgbClr val="E9F8F1"/>
          </a:solidFill>
          <a:ln w="12700">
            <a:solidFill>
              <a:srgbClr val="E3E7F1"/>
            </a:solidFill>
            <a:round/>
          </a:ln>
          <a:effectLst>
            <a:outerShdw algn="bl" blurRad="114480" dir="5400000" dist="38160" kx="0" ky="0" rotWithShape="0" sx="100000" sy="100000">
              <a:srgbClr val="9AA3B2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36" name="Text 16"/>
          <p:cNvSpPr/>
          <p:nvPr/>
        </p:nvSpPr>
        <p:spPr>
          <a:xfrm>
            <a:off x="1005840" y="4773240"/>
            <a:ext cx="10149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rgbClr val="0CA678"/>
                </a:solidFill>
                <a:effectLst/>
                <a:uFillTx/>
                <a:latin typeface="맑은 고딕"/>
                <a:ea typeface="맑은 고딕"/>
              </a:rPr>
              <a:t>결과 확인  </a:t>
            </a:r>
            <a:r>
              <a:rPr lang="ko-KR" sz="14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채점이 끝나면 실행 이력</a:t>
            </a:r>
            <a:r>
              <a:rPr lang="en-US" sz="14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ko-KR" sz="14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코드 </a:t>
            </a:r>
            <a:r>
              <a:rPr lang="en-US" sz="14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diff·</a:t>
            </a:r>
            <a:r>
              <a:rPr lang="ko-KR" sz="14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점수를 대시보드에서 조회할 수 있습니다</a:t>
            </a:r>
            <a:r>
              <a:rPr lang="en-US" sz="14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. </a:t>
            </a:r>
            <a:r>
              <a:rPr lang="ko-KR" sz="14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효율</a:t>
            </a:r>
            <a:r>
              <a:rPr lang="en-US" sz="14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(</a:t>
            </a:r>
            <a:r>
              <a:rPr lang="ko-KR" sz="14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시간</a:t>
            </a:r>
            <a:r>
              <a:rPr lang="en-US" sz="14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·</a:t>
            </a:r>
            <a:r>
              <a:rPr lang="ko-KR" sz="14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토큰</a:t>
            </a:r>
            <a:r>
              <a:rPr lang="en-US" sz="14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)</a:t>
            </a:r>
            <a:r>
              <a:rPr lang="ko-KR" sz="14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과 품질은 별도 축으로 표시됩니다</a:t>
            </a:r>
            <a:r>
              <a:rPr lang="en-US" sz="1400" b="0" u="none" strike="noStrike">
                <a:solidFill>
                  <a:srgbClr val="1F2433"/>
                </a:solidFill>
                <a:effectLst/>
                <a:uFillTx/>
                <a:latin typeface="맑은 고딕"/>
                <a:ea typeface="맑은 고딕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LibreOffice/26.2.5.2$Windows_X86_64 LibreOffice_project/cd7284b4cbbfeb507e630c1aac019f4157393acb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2026-08-06T06:57:14Z</dcterms:created>
  <dc:creator>PptxGenJS</dc:creator>
  <dc:description/>
  <dc:language>ko-KR</dc:language>
  <cp:lastModifiedBy/>
  <dcterms:modified xsi:type="dcterms:W3CDTF">2026-08-06T16:26:53Z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